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1047750"/>
            <a:ext cx="2095500" cy="7620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1352550"/>
            <a:ext cx="6648450" cy="2057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酶 AI 多任务预测系统</a:t>
            </a:r>
            <a:endParaRPr sz="5400" b="1">
              <a:solidFill>
                <a:srgbClr val="0F172A"/>
              </a:solidFill>
            </a:endParaRPr>
          </a:p>
          <a:p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课堂汇报（v3.1）</a:t>
            </a:r>
            <a:endParaRPr sz="5400" b="1">
              <a:solidFill>
                <a:srgbClr val="0F172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3638550"/>
            <a:ext cx="11601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334155"/>
                </a:solidFill>
              </a:defRPr>
            </a:pPr>
            <a:r>
              <a:rPr sz="2550">
                <a:solidFill>
                  <a:srgbClr val="334155"/>
                </a:solidFill>
              </a:rPr>
              <a:t>Ligase Identification / ATP-NAD / Solubility / log_kcat-kcat / EC-Substrate-Metal</a:t>
            </a:r>
            <a:endParaRPr sz="255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4914900"/>
            <a:ext cx="1600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Developed by Eric Xu｜医药人工智能</a:t>
            </a:r>
            <a:endParaRPr sz="18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857250"/>
            <a:ext cx="48958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研究目标与任务拆解</a:t>
            </a:r>
            <a:endParaRPr sz="42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2114550"/>
            <a:ext cx="1714500" cy="47625"/>
          </a:xfrm>
          <a:prstGeom prst="rect">
            <a:avLst/>
          </a:prstGeom>
          <a:solidFill>
            <a:srgbClr val="0EA5A6"/>
          </a:solidFill>
          <a:ln w="0">
            <a:solidFill>
              <a:srgbClr val="0EA5A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2362200"/>
            <a:ext cx="828675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输入蛋白质序列或结构，输出多维度可实验解释的预测结果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分类任务：连接酶鉴定、ATP/NAD 偏好、水溶性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回归任务：log_kcat 与 kcat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扩展任务：EC 子类、底物谱、金属离子依赖</a:t>
            </a:r>
            <a:endParaRPr sz="240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4076700"/>
            <a:ext cx="16002000" cy="49911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核心问题：在实验前做高通量低成本初筛与排序。</a:t>
            </a:r>
            <a:endParaRPr sz="15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857250"/>
            <a:ext cx="82105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硬件与方法选择（Apple Silicon）</a:t>
            </a:r>
            <a:endParaRPr sz="42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2114550"/>
            <a:ext cx="1714500" cy="47625"/>
          </a:xfrm>
          <a:prstGeom prst="rect">
            <a:avLst/>
          </a:prstGeom>
          <a:solidFill>
            <a:srgbClr val="0EA5A6"/>
          </a:solidFill>
          <a:ln w="0">
            <a:solidFill>
              <a:srgbClr val="0EA5A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2362200"/>
            <a:ext cx="9505950" cy="1219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硬件环境：Apple Silicon + PyTorch MPS，无 CUDA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序列任务采用 ESM-2 + 轻量分类头，避免复杂图算子兼容问题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kcat 任务采用图级统计特征 + LightGBM/XGBoost 融合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面向小样本（~405-600）强调稳健与可复现，而非重型 GNN 复杂度</a:t>
            </a:r>
            <a:endParaRPr sz="240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771900"/>
            <a:ext cx="16002000" cy="52959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55626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统一评估看板（全任务）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29540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分类 + 回归一页展示，便于课堂整体叙述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00" y="1695450"/>
            <a:ext cx="12065000" cy="7620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outputs/full_task_eval_v1/CLASSROOM_DASHBOARD_CN.png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634365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kcat 结果（log_kcat 尺度）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790700"/>
            <a:ext cx="6705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在小样本场景下，log 尺度具有更好的稳健性与可解释性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956" y="2190750"/>
            <a:ext cx="8444089" cy="71247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outputs/full_task_eval_v1/kcat/scatter_log_kcat.png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47053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kcat 结果（原尺度）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295400"/>
            <a:ext cx="65341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原尺度受极值影响更大，排序信息通常优于绝对值拟合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489" y="1962150"/>
            <a:ext cx="8715022" cy="7353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outputs/full_task_eval_v1/kcat/scatter_kcat_loglog.png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857250"/>
            <a:ext cx="71247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EC/底物/金属多任务模型迭代</a:t>
            </a:r>
            <a:endParaRPr sz="42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2114550"/>
            <a:ext cx="1714500" cy="47625"/>
          </a:xfrm>
          <a:prstGeom prst="rect">
            <a:avLst/>
          </a:prstGeom>
          <a:solidFill>
            <a:srgbClr val="0EA5A6"/>
          </a:solidFill>
          <a:ln w="0">
            <a:solidFill>
              <a:srgbClr val="0EA5A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2362200"/>
            <a:ext cx="9334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v2：基线稳定，底物表现较好，但 EC 头部/长尾仍不平衡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v3：EC 与金属显著提升，但底物谱出现明显退化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v3.1：仅修复 substrate 头，恢复底物性能，同时保持 EC/金属提升</a:t>
            </a:r>
            <a:endParaRPr sz="240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467100"/>
            <a:ext cx="16002000" cy="56007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目标：在三任务间达到最优折中，而不是单指标最优。</a:t>
            </a:r>
            <a:endParaRPr sz="15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50863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v2 / v3 / v3.1 总览对比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295400"/>
            <a:ext cx="48387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关键指标统一口径验证集对比（n=556）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318" y="1962150"/>
            <a:ext cx="14181364" cy="7353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outputs/ligase_eval_compare_v2_v3_v3_1/fig_v2_v3_v31_overall.png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92583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关键指标聚焦（EC / Substrate / Metal）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790700"/>
            <a:ext cx="61722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v3.1 同时保留 v3 的 EC/Metal 增益并修复 substrate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077" y="2457450"/>
            <a:ext cx="11605846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outputs/ligase_eval_compare_v2_v3_v3_1/fig_v2_v3_v31_focus.png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666750"/>
            <a:ext cx="38671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EC 子类分层结果</a:t>
            </a:r>
            <a:endParaRPr sz="39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295400"/>
            <a:ext cx="5715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头部子类提升明显，长尾子类仍是后续优化重点</a:t>
            </a:r>
            <a:endParaRPr sz="2100">
              <a:solidFill>
                <a:srgbClr val="334155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667" y="1695450"/>
            <a:ext cx="13546667" cy="7620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57250" y="9448800"/>
            <a:ext cx="16573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Source: outputs/ligase_eval_compare_v2_v3_v3_1/fig_v2_v3_v31_ec_per_class_f1.png</a:t>
            </a:r>
            <a:endParaRPr sz="13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857250"/>
            <a:ext cx="54483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当前结论（推荐版本）</a:t>
            </a:r>
            <a:endParaRPr sz="42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2114550"/>
            <a:ext cx="1714500" cy="47625"/>
          </a:xfrm>
          <a:prstGeom prst="rect">
            <a:avLst/>
          </a:prstGeom>
          <a:solidFill>
            <a:srgbClr val="0EA5A6"/>
          </a:solidFill>
          <a:ln w="0">
            <a:solidFill>
              <a:srgbClr val="0EA5A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2362200"/>
            <a:ext cx="7981950" cy="1219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推荐部署与课堂展示版本：v3.1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ec_acc: 0.7744，ec_weighted_f1: 0.8060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substrate_micro_f1: 0.7247（相较 v3 的 0.2681 已修复）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metal_micro_f1: 0.8435，metal_presence_acc: 1.0000</a:t>
            </a:r>
            <a:endParaRPr sz="240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771900"/>
            <a:ext cx="16002000" cy="52959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857250"/>
            <a:ext cx="3810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局限性与下一步</a:t>
            </a:r>
            <a:endParaRPr sz="42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1581150"/>
            <a:ext cx="1714500" cy="47625"/>
          </a:xfrm>
          <a:prstGeom prst="rect">
            <a:avLst/>
          </a:prstGeom>
          <a:solidFill>
            <a:srgbClr val="0EA5A6"/>
          </a:solidFill>
          <a:ln w="0">
            <a:solidFill>
              <a:srgbClr val="0EA5A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1828800"/>
            <a:ext cx="836295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EC 宏平均 F1 仍受长尾子类影响，需继续补充长尾标签数据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建议引入同源约束划分以降低潜在序列泄漏风险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引入不确定性估计与校准，提高实验前决策可靠性</a:t>
            </a:r>
            <a:endParaRPr sz="2400">
              <a:solidFill>
                <a:srgbClr val="334155"/>
              </a:solidFill>
            </a:endParaRPr>
          </a:p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• 可继续拓展 pH/温度最适条件预测与底物细粒度建模</a:t>
            </a:r>
            <a:endParaRPr sz="2400">
              <a:solidFill>
                <a:srgbClr val="3341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543300"/>
            <a:ext cx="16002000" cy="55245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WPS 表格</Application>
  <PresentationFormat>Converted Presentation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xu</cp:lastModifiedBy>
  <cp:revision>1</cp:revision>
  <dcterms:created xsi:type="dcterms:W3CDTF">2026-04-25T03:08:27Z</dcterms:created>
  <dcterms:modified xsi:type="dcterms:W3CDTF">2026-04-25T03:08:27Z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96A90606806DC1112B30EC695C98038E_42</vt:lpwstr>
  </property>
  <property fmtid="{D5CDD505-2E9C-101B-9397-08002B2CF9AE}" pid="3" name="KSOProductBuildVer">
    <vt:lpwstr>2052-12.1.25867.25867</vt:lpwstr>
  </property>
</Properties>
</file>